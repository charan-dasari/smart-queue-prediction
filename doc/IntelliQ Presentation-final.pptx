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3" r:id="rId4"/>
    <p:sldId id="259" r:id="rId5"/>
    <p:sldId id="264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5" r:id="rId14"/>
    <p:sldId id="274" r:id="rId15"/>
    <p:sldId id="276" r:id="rId16"/>
    <p:sldId id="277" r:id="rId17"/>
    <p:sldId id="278" r:id="rId18"/>
    <p:sldId id="279" r:id="rId19"/>
    <p:sldId id="281" r:id="rId20"/>
    <p:sldId id="261" r:id="rId21"/>
    <p:sldId id="282" r:id="rId22"/>
    <p:sldId id="280" r:id="rId23"/>
    <p:sldId id="262" r:id="rId24"/>
    <p:sldId id="260" r:id="rId25"/>
  </p:sldIdLst>
  <p:sldSz cx="12192000" cy="6858000"/>
  <p:notesSz cx="6858000" cy="9144000"/>
  <p:embeddedFontLst>
    <p:embeddedFont>
      <p:font typeface="Proxima Nova" panose="020B0604020202020204" charset="0"/>
      <p:regular r:id="rId27"/>
    </p:embeddedFont>
    <p:embeddedFont>
      <p:font typeface="Proxima Nova Rg" panose="02000506030000020004" pitchFamily="2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3B"/>
    <a:srgbClr val="04A2B9"/>
    <a:srgbClr val="51D8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811" y="72"/>
      </p:cViewPr>
      <p:guideLst>
        <p:guide orient="horz" pos="2185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DE097960-8BEE-D005-B649-7542C2D4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680EA16C-F473-729A-EC3E-9E47DF527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CCE79E7-61D2-E3FD-E296-A612A9F92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1631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61BC529-6C22-036D-6D31-841E1D91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CFF4D2F7-6CDF-AC2F-5E2B-4677B5A0E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12328FD8-0B9E-3922-177A-861AD3E79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8440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3973BD1-C18B-E980-CF46-0A10A32F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935A8F5B-588A-8095-604B-7B552A597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D8DC9909-FDAD-1EFD-41FE-96BB52BA7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0771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8932991-F2CD-0D4C-A49A-93977D1D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D7DA3139-DFE0-15F8-CF6A-FEB7EFCAF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C5A49375-5862-FB89-06D5-72C710AA1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5521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AE1B6022-78F4-A00E-8FF0-7AD26AC2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44311E3B-95F9-6F32-34A5-5B65C95CF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9A219E56-4FED-A8BD-0BC5-66555F89C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995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96716C0-D267-91BF-A2EC-68114FDD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C9808924-FECA-A296-7483-6EF561400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47CACD4F-C3F4-ECE8-2D0C-D0C98B1E6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875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0A5A44F6-B06B-B9AD-0D69-131B98AC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C8358E30-0B7C-DD3E-8D02-AB562C45B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E4E13CE3-A7A5-93DF-57E4-C08A5D699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1939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87EF6AD8-17D7-0FB6-FB4F-E4683876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2C2547C8-2099-5118-0E84-5CB9AAD28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7C0E491B-AF00-BFE2-10C2-3285AAC10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8192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31A02E75-E8D3-6EDD-D2BD-F509DF9D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5413630C-443C-D36D-D9F5-5A9A2AFF4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81EF7B07-045E-BF74-7D96-A35E53F86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2262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762803A-15DE-0D88-B993-51CBECE9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2138A005-BD81-C063-DF4E-063DDA10D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15842D1F-2BE2-AA8F-CF6C-0D2928B1B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644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259BAE68-B5AD-A777-2C99-FAE76FC1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04046928-DF4D-4D6F-A402-90909265C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352FEBF5-35EC-084F-6C16-A3631E043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1476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F75B89-88C6-93B0-E5B6-6479A4AB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8606D346-99DD-CCF7-0E6F-55FBED730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0F5CDC81-B5CA-E991-19D9-258C70611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1233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82D0F392-5F9A-FC0A-6D1C-F8C05B22A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63A30B12-D2EF-EBE2-38BB-5FC30C0EF7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8BA7EF64-8A19-B2A4-A429-CCDA46A02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501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3DDC2CCE-8324-D789-5AB7-AB023A93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7FB12B93-E90F-0D3C-E8BC-0C0463C28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A93EAE0E-5E9D-33D4-13ED-253DC0183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661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24D005B-3159-108E-C46B-BC0BD68D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F7B01843-21D6-A550-5F89-7B4A147F94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B1761579-A10D-B5C0-027D-DCC389951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6096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3B9A351-CF74-C241-D21A-23803852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2034A689-6083-01C9-CEB7-F209CED06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43E30814-F7DB-C632-625C-F4BA508EB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399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FA6B5DC2-FAD1-DE30-9699-F4AC24DA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036DEBD1-151C-F6BE-B181-CB62F625F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799BD119-CBF1-F7FF-C075-27B3474B8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3393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8EE4117F-7D48-29EA-52F5-D1A19151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33E1A917-E96A-FA1D-52A1-606258A190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587C08CC-BBF3-C7BF-F09E-6A8DF1DFF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9551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scikit-learn.org/stable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aspnet/core/?view=aspnetcore-10.0" TargetMode="External"/><Relationship Id="rId5" Type="http://schemas.openxmlformats.org/officeDocument/2006/relationships/hyperlink" Target="https://dotnet.microsoft.com/en-us/apps/aspnet" TargetMode="External"/><Relationship Id="rId4" Type="http://schemas.openxmlformats.org/officeDocument/2006/relationships/hyperlink" Target="https://docs.flutter.dev/" TargetMode="External"/><Relationship Id="rId9" Type="http://schemas.openxmlformats.org/officeDocument/2006/relationships/hyperlink" Target="https://www.kaggle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3102949" y="3526681"/>
            <a:ext cx="66780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Member 1: Devicharan Dasari (9410103020) (7EC3)</a:t>
            </a:r>
            <a:endParaRPr dirty="0">
              <a:solidFill>
                <a:srgbClr val="FF0000"/>
              </a:solidFill>
              <a:latin typeface="Proxima Nova Rg" panose="02000506030000020004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Member 2: Smit Rudakiya (92410103019) (7EC3)</a:t>
            </a:r>
            <a:endParaRPr dirty="0">
              <a:solidFill>
                <a:srgbClr val="FF0000"/>
              </a:solidFill>
              <a:latin typeface="Proxima Nova Rg" panose="02000506030000020004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Member 3: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Adityaraj</a:t>
            </a:r>
            <a:r>
              <a:rPr lang="en-US" sz="1800" b="0" i="0" u="none" strike="noStrike" cap="none">
                <a:solidFill>
                  <a:schemeClr val="dk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Chudasama (92410103051) (7EC3)</a:t>
            </a:r>
            <a:endParaRPr sz="1800" b="0" i="0" u="none" strike="noStrike" cap="none" dirty="0">
              <a:solidFill>
                <a:schemeClr val="dk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2844024" y="2745351"/>
            <a:ext cx="7195800" cy="782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800"/>
              <a:buFont typeface="Proxima Nova" panose="02000506030000020004"/>
              <a:buNone/>
            </a:pPr>
            <a:r>
              <a:rPr lang="en-US" sz="2800" b="0" i="0" u="none" strike="noStrike" cap="none" dirty="0" err="1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IntelliQ</a:t>
            </a:r>
            <a:r>
              <a:rPr lang="en-US" sz="2800" b="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: Smart Queue Prediction System</a:t>
            </a:r>
          </a:p>
          <a:p>
            <a:pPr marL="12700" lvl="0" algn="ctr">
              <a:buClr>
                <a:srgbClr val="04A2B9"/>
              </a:buClr>
              <a:buSzPts val="2800"/>
            </a:pPr>
            <a:r>
              <a:rPr lang="en-US" sz="2200" b="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Team ID: </a:t>
            </a:r>
            <a:r>
              <a:rPr lang="en-US" sz="2200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7P_124</a:t>
            </a:r>
            <a:endParaRPr sz="2200" b="0" i="0" u="none" strike="noStrike" cap="none" dirty="0">
              <a:solidFill>
                <a:srgbClr val="04A2B9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459831" y="4489367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Guided By</a:t>
            </a:r>
          </a:p>
        </p:txBody>
      </p:sp>
      <p:sp>
        <p:nvSpPr>
          <p:cNvPr id="91" name="Google Shape;91;p2"/>
          <p:cNvSpPr txBox="1"/>
          <p:nvPr/>
        </p:nvSpPr>
        <p:spPr>
          <a:xfrm>
            <a:off x="3193926" y="4897337"/>
            <a:ext cx="5742683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Internal Guide</a:t>
            </a:r>
          </a:p>
          <a:p>
            <a:pPr lvl="0" algn="ctr"/>
            <a:r>
              <a:rPr lang="en-US" sz="1800" dirty="0">
                <a:latin typeface="Proxima Nova Rg" panose="02000506030000020004" pitchFamily="2" charset="0"/>
              </a:rPr>
              <a:t>Professor Viraj </a:t>
            </a:r>
            <a:r>
              <a:rPr lang="en-US" sz="1800" dirty="0" err="1">
                <a:latin typeface="Proxima Nova Rg" panose="02000506030000020004" pitchFamily="2" charset="0"/>
              </a:rPr>
              <a:t>Daxini</a:t>
            </a:r>
            <a:endParaRPr lang="en-US" sz="1800" dirty="0">
              <a:latin typeface="Proxima Nova Rg" panose="02000506030000020004" pitchFamily="2" charset="0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3193926" y="5441197"/>
            <a:ext cx="302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2550795" y="1056005"/>
            <a:ext cx="709549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</a:t>
            </a: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ajor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Project</a:t>
            </a: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-I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(01CE</a:t>
            </a:r>
            <a:r>
              <a:rPr lang="en-US" sz="320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0</a:t>
            </a:r>
            <a:r>
              <a:rPr lang="en-IN" altLang="en-US" sz="320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716</a:t>
            </a:r>
            <a:r>
              <a:rPr 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)</a:t>
            </a: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IN" altLang="en-US" sz="3200" b="1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Semester 7</a:t>
            </a:r>
            <a:endParaRPr sz="3200" b="1" dirty="0">
              <a:latin typeface="Proxima Nova Rg" panose="02000506030000020004" pitchFamily="2" charset="0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4A2B9"/>
              </a:buClr>
              <a:buSzPts val="2200"/>
              <a:buFont typeface="Proxima Nova" panose="02000506030000020004"/>
              <a:buNone/>
            </a:pPr>
            <a:r>
              <a:rPr lang="en-US" sz="2200" b="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Review 1 </a:t>
            </a:r>
            <a:br>
              <a:rPr lang="en-US" sz="2200" b="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2200" b="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(11/07/2026)</a:t>
            </a:r>
            <a:br>
              <a:rPr lang="en-US" sz="2200" b="0" i="0" u="none" strike="noStrike" cap="none" dirty="0">
                <a:solidFill>
                  <a:srgbClr val="04A2B9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endParaRPr sz="2200" b="0" i="0" u="none" strike="noStrike" cap="none" dirty="0">
              <a:solidFill>
                <a:schemeClr val="dk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293191" y="5643518"/>
            <a:ext cx="8297381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Department of Computer Engineering,</a:t>
            </a:r>
            <a:b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24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Faculty of Engineering &amp; Technology</a:t>
            </a:r>
            <a:r>
              <a:rPr lang="en-US" sz="3600" b="0" i="0" u="none" strike="noStrike" cap="none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endParaRPr sz="3600" b="0" i="0" u="none" strike="noStrike" cap="none" dirty="0">
              <a:solidFill>
                <a:schemeClr val="dk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F5857BFB-CFE7-1E0E-5BBC-EBE975BD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>
            <a:extLst>
              <a:ext uri="{FF2B5EF4-FFF2-40B4-BE49-F238E27FC236}">
                <a16:creationId xmlns:a16="http://schemas.microsoft.com/office/drawing/2014/main" id="{C8418FAE-0FE5-D74E-BAEE-C97A4E8B1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113" y="428434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Outline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0" name="Google Shape;100;p3">
            <a:extLst>
              <a:ext uri="{FF2B5EF4-FFF2-40B4-BE49-F238E27FC236}">
                <a16:creationId xmlns:a16="http://schemas.microsoft.com/office/drawing/2014/main" id="{9CBD3A57-C56A-9D99-5CA6-9F8DFB70C43A}"/>
              </a:ext>
            </a:extLst>
          </p:cNvPr>
          <p:cNvSpPr txBox="1"/>
          <p:nvPr/>
        </p:nvSpPr>
        <p:spPr>
          <a:xfrm>
            <a:off x="646113" y="1089928"/>
            <a:ext cx="85911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Introduction</a:t>
            </a:r>
            <a:endParaRPr lang="en-US" sz="1800" dirty="0">
              <a:solidFill>
                <a:schemeClr val="tx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Abstract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Problem Statement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Objective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Current Existing Problems &amp; Solutions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Existing System vs Proposed System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Screenshot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</a:rPr>
              <a:t>Future Enhancements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Conclusion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" panose="02000506030000020004"/>
                <a:sym typeface="Proxima Nova" panose="02000506030000020004"/>
              </a:rPr>
              <a:t>References</a:t>
            </a:r>
            <a:endParaRPr lang="en-US" sz="2000" dirty="0">
              <a:solidFill>
                <a:schemeClr val="tx1"/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9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Introduction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3" name="Google Shape;106;p4">
            <a:extLst>
              <a:ext uri="{FF2B5EF4-FFF2-40B4-BE49-F238E27FC236}">
                <a16:creationId xmlns:a16="http://schemas.microsoft.com/office/drawing/2014/main" id="{E16AF7A9-4740-0034-2B32-3C5D8BB5ABF1}"/>
              </a:ext>
            </a:extLst>
          </p:cNvPr>
          <p:cNvSpPr txBox="1"/>
          <p:nvPr/>
        </p:nvSpPr>
        <p:spPr>
          <a:xfrm>
            <a:off x="534259" y="1377822"/>
            <a:ext cx="10738168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Traditional queue systems lead to long waiting times and uncertainty. Our AI-based solution predicts waiting time and recommends the best reservation slot for hospitals, banks, restaurants and colleges.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b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What is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IntelliQ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?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b="0" i="0" u="none" strike="noStrike" cap="none" dirty="0" err="1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IntelliQ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is a state-of-the-art smart queue prediction and management system. It aims to bridge the gap between physical queues and remote convenience by leveraging advanced digital tools and machine learning forecasts.</a:t>
            </a:r>
            <a:endParaRPr lang="en-US" sz="1800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endParaRPr lang="en-US" sz="1800" b="1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Multi-Role SaaS Architecture: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The system is structured as a SaaS (Software-as-a-Service) multi-tenant platform featuring 4 customized roles: regular Users, Organization Admins, Counter Staff, and Platform Super Admins.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endParaRPr lang="en-US" sz="1800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Solving Real-World Crowding: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Hospitals</a:t>
            </a:r>
            <a:r>
              <a:rPr lang="en-US" sz="18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and 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Banks suffer from severe wait times.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IntelliQ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addresses this by enabling live queue status tracking, virtual QR token bookings, and smart scheduling recommendations.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endParaRPr lang="en-US" sz="1800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14F2FE9-F149-663C-4F99-A09195F0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071AF8F8-F18C-C6BA-C6B1-67B9F3608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Abstract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7AB39B-C4F4-0E41-9035-5555F5E82812}"/>
              </a:ext>
            </a:extLst>
          </p:cNvPr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4EA1D-F13F-6FD0-2682-5BDF696C71DB}"/>
              </a:ext>
            </a:extLst>
          </p:cNvPr>
          <p:cNvSpPr txBox="1"/>
          <p:nvPr/>
        </p:nvSpPr>
        <p:spPr>
          <a:xfrm>
            <a:off x="685800" y="1783080"/>
            <a:ext cx="320040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Core Mission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 err="1">
                <a:latin typeface="Proxima Nova Rg" panose="02000506030000020004" pitchFamily="2" charset="0"/>
              </a:rPr>
              <a:t>IntelliQ</a:t>
            </a:r>
            <a:r>
              <a:rPr dirty="0">
                <a:latin typeface="Proxima Nova Rg" panose="02000506030000020004" pitchFamily="2" charset="0"/>
              </a:rPr>
              <a:t> is a full-stack digital platform designed to completely eliminate physical queue wait times at critical public service centers.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D00CF8A-0F59-B36C-A7D4-0CDF314F0F10}"/>
              </a:ext>
            </a:extLst>
          </p:cNvPr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638A4-922E-6EF2-3723-5331E062E966}"/>
              </a:ext>
            </a:extLst>
          </p:cNvPr>
          <p:cNvSpPr txBox="1"/>
          <p:nvPr/>
        </p:nvSpPr>
        <p:spPr>
          <a:xfrm>
            <a:off x="4434840" y="1783080"/>
            <a:ext cx="320040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>
                <a:latin typeface="Proxima Nova Rg" panose="02000506030000020004" pitchFamily="2" charset="0"/>
              </a:rPr>
              <a:t>AI Predictor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>
                <a:latin typeface="Proxima Nova Rg" panose="02000506030000020004" pitchFamily="2" charset="0"/>
              </a:rPr>
              <a:t>Uses ML models (Random Forest Regressor / Linear Regression) to predict time-slot crowd densities based on historical datasets.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72725B36-31CD-7AB3-B71F-D3CF71490023}"/>
              </a:ext>
            </a:extLst>
          </p:cNvPr>
          <p:cNvSpPr/>
          <p:nvPr/>
        </p:nvSpPr>
        <p:spPr>
          <a:xfrm>
            <a:off x="804672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C1C638-F0BC-3FC2-CCC9-BEE67602B5AA}"/>
              </a:ext>
            </a:extLst>
          </p:cNvPr>
          <p:cNvSpPr txBox="1"/>
          <p:nvPr/>
        </p:nvSpPr>
        <p:spPr>
          <a:xfrm>
            <a:off x="8183880" y="1783080"/>
            <a:ext cx="320040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>
                <a:latin typeface="Proxima Nova Rg" panose="02000506030000020004" pitchFamily="2" charset="0"/>
              </a:rPr>
              <a:t>Contactless Check-In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>
                <a:latin typeface="Proxima Nova Rg" panose="02000506030000020004" pitchFamily="2" charset="0"/>
              </a:rPr>
              <a:t>Generates dynamic QR-code based digital tokens to allow fast, paperless arrivals at physical counters.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970F45E3-DDC6-FFEA-CC98-DA43299B1399}"/>
              </a:ext>
            </a:extLst>
          </p:cNvPr>
          <p:cNvSpPr/>
          <p:nvPr/>
        </p:nvSpPr>
        <p:spPr>
          <a:xfrm>
            <a:off x="54864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80623B-0A2C-727F-E31E-AF50DAF7B5EA}"/>
              </a:ext>
            </a:extLst>
          </p:cNvPr>
          <p:cNvSpPr txBox="1"/>
          <p:nvPr/>
        </p:nvSpPr>
        <p:spPr>
          <a:xfrm>
            <a:off x="685800" y="4069080"/>
            <a:ext cx="320040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Robust Architecture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Built with Flutter (Dart) for Android and Web. The backend is a .NET 8 ASP.NET Core REST API connected to SQL Server.</a:t>
            </a:r>
            <a:r>
              <a:rPr lang="en-US" dirty="0">
                <a:latin typeface="Proxima Nova Rg" panose="02000506030000020004" pitchFamily="2" charset="0"/>
              </a:rPr>
              <a:t> and a Python Machine Learning engine for intelligent queue prediction.</a:t>
            </a:r>
            <a:endParaRPr dirty="0">
              <a:latin typeface="Proxima Nova Rg" panose="02000506030000020004" pitchFamily="2" charset="0"/>
            </a:endParaRP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FC8258EE-A5DB-506C-31A5-8E286E69CA0E}"/>
              </a:ext>
            </a:extLst>
          </p:cNvPr>
          <p:cNvSpPr/>
          <p:nvPr/>
        </p:nvSpPr>
        <p:spPr>
          <a:xfrm>
            <a:off x="429768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67E1CF-BB65-3308-C498-86F1DDE21F23}"/>
              </a:ext>
            </a:extLst>
          </p:cNvPr>
          <p:cNvSpPr txBox="1"/>
          <p:nvPr/>
        </p:nvSpPr>
        <p:spPr>
          <a:xfrm>
            <a:off x="4434840" y="4069080"/>
            <a:ext cx="320040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Provider Autonomy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Empowers admins to customize counter counts, define operational services, and monitor staff efficiency remotely.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AB2046DE-4A11-5559-6D96-084212D142E7}"/>
              </a:ext>
            </a:extLst>
          </p:cNvPr>
          <p:cNvSpPr/>
          <p:nvPr/>
        </p:nvSpPr>
        <p:spPr>
          <a:xfrm>
            <a:off x="804672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8B3A91-ED08-CF4B-5751-8CE1FD1C153D}"/>
              </a:ext>
            </a:extLst>
          </p:cNvPr>
          <p:cNvSpPr txBox="1"/>
          <p:nvPr/>
        </p:nvSpPr>
        <p:spPr>
          <a:xfrm>
            <a:off x="8183880" y="4069080"/>
            <a:ext cx="320040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Seeded Datasets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Comes pre-packaged with a vast dataset of 1L+ real Indian locations across key domains (banks, colleges, hospitals).</a:t>
            </a:r>
          </a:p>
        </p:txBody>
      </p:sp>
    </p:spTree>
    <p:extLst>
      <p:ext uri="{BB962C8B-B14F-4D97-AF65-F5344CB8AC3E}">
        <p14:creationId xmlns:p14="http://schemas.microsoft.com/office/powerpoint/2010/main" val="2444517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animBg="1"/>
      <p:bldP spid="10" grpId="0"/>
      <p:bldP spid="12" grpId="0" animBg="1"/>
      <p:bldP spid="14" grpId="0"/>
      <p:bldP spid="16" grpId="0" animBg="1"/>
      <p:bldP spid="18" grpId="0"/>
      <p:bldP spid="20" grpId="0" animBg="1"/>
      <p:bldP spid="22" grpId="0"/>
      <p:bldP spid="24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CA9F16FF-1D22-06C8-FAEE-BC3477FE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96AA9EF6-B920-D5EE-A3C0-4AC433BB5C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90072"/>
            <a:ext cx="4430933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Problem Statement</a:t>
            </a:r>
            <a:b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3" name="Google Shape;106;p4">
            <a:extLst>
              <a:ext uri="{FF2B5EF4-FFF2-40B4-BE49-F238E27FC236}">
                <a16:creationId xmlns:a16="http://schemas.microsoft.com/office/drawing/2014/main" id="{FCB20330-1247-70B5-4E61-3720EB97DCA5}"/>
              </a:ext>
            </a:extLst>
          </p:cNvPr>
          <p:cNvSpPr txBox="1"/>
          <p:nvPr/>
        </p:nvSpPr>
        <p:spPr>
          <a:xfrm>
            <a:off x="534259" y="1384034"/>
            <a:ext cx="1073816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Users do not know expected waiting time, organizations face overcrowding during peak hours, and manual queue systems reduce efficiency and customer satisfaction.</a:t>
            </a:r>
          </a:p>
        </p:txBody>
      </p:sp>
      <p:sp>
        <p:nvSpPr>
          <p:cNvPr id="7" name="Google Shape;106;p4">
            <a:extLst>
              <a:ext uri="{FF2B5EF4-FFF2-40B4-BE49-F238E27FC236}">
                <a16:creationId xmlns:a16="http://schemas.microsoft.com/office/drawing/2014/main" id="{F3644742-5E20-1551-A393-AFBABFC23065}"/>
              </a:ext>
            </a:extLst>
          </p:cNvPr>
          <p:cNvSpPr txBox="1"/>
          <p:nvPr/>
        </p:nvSpPr>
        <p:spPr>
          <a:xfrm>
            <a:off x="534259" y="2242342"/>
            <a:ext cx="8051957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Massive Time Waste Daily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People waste hours standing in lines at doctors, banks, and government offices every day.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endParaRPr lang="en-US" sz="1800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No Idea of Wait Times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People cannot see how long the line is or how much time it will take before they reach the place.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endParaRPr lang="en-US" sz="1800" b="1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Paper Tokens are Inconvenient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Paper slips get lost easily, cannot be tracked from home, and waste paper.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endParaRPr lang="en-US" sz="1800" b="1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No Crowd Control tools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Tx/>
              <a:buChar char="-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Managers have no data tools to decide when to open extra counters or how to balance the crowd.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DAAE19F-DA00-AA38-EFCD-70CB69585ED3}"/>
              </a:ext>
            </a:extLst>
          </p:cNvPr>
          <p:cNvSpPr/>
          <p:nvPr/>
        </p:nvSpPr>
        <p:spPr>
          <a:xfrm>
            <a:off x="8684027" y="2598958"/>
            <a:ext cx="3118104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D1ED7-A6F9-8444-E282-C03A67B977B7}"/>
              </a:ext>
            </a:extLst>
          </p:cNvPr>
          <p:cNvSpPr txBox="1"/>
          <p:nvPr/>
        </p:nvSpPr>
        <p:spPr>
          <a:xfrm>
            <a:off x="8775467" y="2645566"/>
            <a:ext cx="2900562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Time Loss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Millions of hours are lost by citizens waiting for basic services.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E26B5214-CAB9-50FE-F196-C03AB11FF1BA}"/>
              </a:ext>
            </a:extLst>
          </p:cNvPr>
          <p:cNvSpPr/>
          <p:nvPr/>
        </p:nvSpPr>
        <p:spPr>
          <a:xfrm>
            <a:off x="8684027" y="3726960"/>
            <a:ext cx="3118104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0E546E-3F57-D52F-5F78-7F059DF4AAF2}"/>
              </a:ext>
            </a:extLst>
          </p:cNvPr>
          <p:cNvSpPr txBox="1"/>
          <p:nvPr/>
        </p:nvSpPr>
        <p:spPr>
          <a:xfrm>
            <a:off x="8792798" y="3745248"/>
            <a:ext cx="2900562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Zero Visibility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No way to check token position or wait list numbers remotely.</a:t>
            </a:r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233DD098-003E-939F-4FA0-BBA6E9C47233}"/>
              </a:ext>
            </a:extLst>
          </p:cNvPr>
          <p:cNvSpPr/>
          <p:nvPr/>
        </p:nvSpPr>
        <p:spPr>
          <a:xfrm>
            <a:off x="8684027" y="4854962"/>
            <a:ext cx="3118104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6BE833-5A3E-C705-0A76-5E19252C40DA}"/>
              </a:ext>
            </a:extLst>
          </p:cNvPr>
          <p:cNvSpPr txBox="1"/>
          <p:nvPr/>
        </p:nvSpPr>
        <p:spPr>
          <a:xfrm>
            <a:off x="8775467" y="4890024"/>
            <a:ext cx="2900562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Peak Crowds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Heavy rush at specific morning hours causing extreme delays.</a:t>
            </a:r>
          </a:p>
        </p:txBody>
      </p:sp>
    </p:spTree>
    <p:extLst>
      <p:ext uri="{BB962C8B-B14F-4D97-AF65-F5344CB8AC3E}">
        <p14:creationId xmlns:p14="http://schemas.microsoft.com/office/powerpoint/2010/main" val="4928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2DDDE7CA-20B6-8D34-7CE7-D9704353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30DA381C-6B58-0ACF-CE06-5E0455DAD4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90072"/>
            <a:ext cx="4430933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Objectives</a:t>
            </a:r>
            <a:b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</a:b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3" name="Google Shape;106;p4">
            <a:extLst>
              <a:ext uri="{FF2B5EF4-FFF2-40B4-BE49-F238E27FC236}">
                <a16:creationId xmlns:a16="http://schemas.microsoft.com/office/drawing/2014/main" id="{21538334-3102-4008-7734-FFE5B27FF1EE}"/>
              </a:ext>
            </a:extLst>
          </p:cNvPr>
          <p:cNvSpPr txBox="1"/>
          <p:nvPr/>
        </p:nvSpPr>
        <p:spPr>
          <a:xfrm>
            <a:off x="534259" y="1141560"/>
            <a:ext cx="10738168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Predict Waiting Time: Estimate customer waiting time using Al and machine learning.</a:t>
            </a:r>
          </a:p>
          <a:p>
            <a:pPr marL="285750" lvl="0" indent="-285750"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Provide Smart Reservation: Recommend the best time slots based on predicted queue conditions.</a:t>
            </a:r>
          </a:p>
          <a:p>
            <a:pPr marL="285750" lvl="0" indent="-285750"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Reduce Overcrowding: Distribute customer visits to minimize congestion during peak hours.</a:t>
            </a:r>
          </a:p>
          <a:p>
            <a:pPr marL="285750" lvl="0" indent="-285750"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Improve User Experience: Provide real-time queue updates and faster, more convenient service.</a:t>
            </a:r>
          </a:p>
          <a:p>
            <a:pPr marL="285750" lvl="0" indent="-285750"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Support Multiple Industries: Develop a scalable solution for hospitals, banks, restaurants and colleges.</a:t>
            </a:r>
          </a:p>
          <a:p>
            <a:pPr marL="285750" lvl="0" indent="-285750"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Future Enhancement: Enable automatic queue monitoring using CCTV and computer vision</a:t>
            </a:r>
            <a:endParaRPr lang="en-US" sz="2000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943087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6C193A43-E367-B267-F98C-74546647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2837CB1C-0E3C-C9B1-7DAD-0FF6BBE954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Current Existing Problems &amp; Solutions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3A7C890E-E63A-65BE-7F5B-E87AF19C5EDC}"/>
              </a:ext>
            </a:extLst>
          </p:cNvPr>
          <p:cNvSpPr/>
          <p:nvPr/>
        </p:nvSpPr>
        <p:spPr>
          <a:xfrm>
            <a:off x="534259" y="1554480"/>
            <a:ext cx="3474720" cy="2852928"/>
          </a:xfrm>
          <a:prstGeom prst="roundRect">
            <a:avLst/>
          </a:prstGeom>
          <a:solidFill>
            <a:srgbClr val="1E293B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B063CF-2079-CFD6-2D6F-FD319871F11F}"/>
              </a:ext>
            </a:extLst>
          </p:cNvPr>
          <p:cNvSpPr txBox="1"/>
          <p:nvPr/>
        </p:nvSpPr>
        <p:spPr>
          <a:xfrm>
            <a:off x="670560" y="1891695"/>
            <a:ext cx="32004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1. </a:t>
            </a:r>
            <a:r>
              <a:rPr lang="en-IN" dirty="0">
                <a:latin typeface="Proxima Nova Rg" panose="02000506030000020004" pitchFamily="2" charset="0"/>
              </a:rPr>
              <a:t>Physical</a:t>
            </a:r>
            <a:r>
              <a:rPr dirty="0">
                <a:latin typeface="Proxima Nova Rg" panose="02000506030000020004" pitchFamily="2" charset="0"/>
              </a:rPr>
              <a:t> Queue Devices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PROBLEM: Requires expensive hardware displays at physical venues. No mobile remote access.</a:t>
            </a:r>
            <a:br>
              <a:rPr dirty="0">
                <a:latin typeface="Proxima Nova Rg" panose="02000506030000020004" pitchFamily="2" charset="0"/>
              </a:rPr>
            </a:br>
            <a:br>
              <a:rPr dirty="0">
                <a:latin typeface="Proxima Nova Rg" panose="02000506030000020004" pitchFamily="2" charset="0"/>
              </a:rPr>
            </a:br>
            <a:r>
              <a:rPr dirty="0">
                <a:latin typeface="Proxima Nova Rg" panose="02000506030000020004" pitchFamily="2" charset="0"/>
              </a:rPr>
              <a:t>✔ INTELLIQ SOLUTION: Purely cloud-software driven. Users track live queues directly on their mobile/web browser from anywhere, eliminating hardware costs completely.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E783E000-A796-78E3-A349-FF72D70C7855}"/>
              </a:ext>
            </a:extLst>
          </p:cNvPr>
          <p:cNvSpPr/>
          <p:nvPr/>
        </p:nvSpPr>
        <p:spPr>
          <a:xfrm>
            <a:off x="4297680" y="1554480"/>
            <a:ext cx="3474720" cy="2852928"/>
          </a:xfrm>
          <a:prstGeom prst="roundRect">
            <a:avLst/>
          </a:prstGeom>
          <a:solidFill>
            <a:srgbClr val="1E293B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523196-74FC-5B39-C558-E684161F8D20}"/>
              </a:ext>
            </a:extLst>
          </p:cNvPr>
          <p:cNvSpPr txBox="1"/>
          <p:nvPr/>
        </p:nvSpPr>
        <p:spPr>
          <a:xfrm>
            <a:off x="4495800" y="1847300"/>
            <a:ext cx="320040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2. Appointment Schedulers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PROBLEM: Traditional calendar slots (Google) ignore actual counter queues. If counters run late, users wait physically.</a:t>
            </a:r>
            <a:br>
              <a:rPr dirty="0">
                <a:latin typeface="Proxima Nova Rg" panose="02000506030000020004" pitchFamily="2" charset="0"/>
              </a:rPr>
            </a:br>
            <a:br>
              <a:rPr dirty="0">
                <a:latin typeface="Proxima Nova Rg" panose="02000506030000020004" pitchFamily="2" charset="0"/>
              </a:rPr>
            </a:br>
            <a:r>
              <a:rPr dirty="0">
                <a:latin typeface="Proxima Nova Rg" panose="02000506030000020004" pitchFamily="2" charset="0"/>
              </a:rPr>
              <a:t>✔ INTELLIQ SOLUTION: Merges live queue counters with time slots. Automatically adjusts queue estimates based on real-time counter updates.</a:t>
            </a: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D5189A39-5CC5-9711-57F6-194B80A10232}"/>
              </a:ext>
            </a:extLst>
          </p:cNvPr>
          <p:cNvSpPr/>
          <p:nvPr/>
        </p:nvSpPr>
        <p:spPr>
          <a:xfrm>
            <a:off x="8046720" y="1554480"/>
            <a:ext cx="3474720" cy="2852928"/>
          </a:xfrm>
          <a:prstGeom prst="roundRect">
            <a:avLst/>
          </a:prstGeom>
          <a:solidFill>
            <a:srgbClr val="1E293B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1D8941-BE49-3FD3-150E-C2FB618D3719}"/>
              </a:ext>
            </a:extLst>
          </p:cNvPr>
          <p:cNvSpPr txBox="1"/>
          <p:nvPr/>
        </p:nvSpPr>
        <p:spPr>
          <a:xfrm>
            <a:off x="8183880" y="1747272"/>
            <a:ext cx="3200400" cy="246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3. Domain-Specific Systems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PROBLEM: Most applications support only hospitals or only banking portals, requiring multiple separate apps.</a:t>
            </a:r>
            <a:br>
              <a:rPr dirty="0">
                <a:latin typeface="Proxima Nova Rg" panose="02000506030000020004" pitchFamily="2" charset="0"/>
              </a:rPr>
            </a:br>
            <a:br>
              <a:rPr dirty="0">
                <a:latin typeface="Proxima Nova Rg" panose="02000506030000020004" pitchFamily="2" charset="0"/>
              </a:rPr>
            </a:br>
            <a:r>
              <a:rPr dirty="0">
                <a:latin typeface="Proxima Nova Rg" panose="02000506030000020004" pitchFamily="2" charset="0"/>
              </a:rPr>
              <a:t>✔ INTELLIQ SOLUTION: Unified cross-domain ecosystem. Handles Hospital consultations, Bank cash desks,</a:t>
            </a:r>
            <a:r>
              <a:rPr lang="en-IN" dirty="0">
                <a:latin typeface="Proxima Nova Rg" panose="02000506030000020004" pitchFamily="2" charset="0"/>
              </a:rPr>
              <a:t> restaurants wait queue, </a:t>
            </a:r>
            <a:r>
              <a:rPr dirty="0">
                <a:latin typeface="Proxima Nova Rg" panose="02000506030000020004" pitchFamily="2" charset="0"/>
              </a:rPr>
              <a:t>and Govt certificate offices within a single application.</a:t>
            </a:r>
          </a:p>
        </p:txBody>
      </p:sp>
      <p:sp>
        <p:nvSpPr>
          <p:cNvPr id="31" name="Google Shape;106;p4">
            <a:extLst>
              <a:ext uri="{FF2B5EF4-FFF2-40B4-BE49-F238E27FC236}">
                <a16:creationId xmlns:a16="http://schemas.microsoft.com/office/drawing/2014/main" id="{6D413E9E-B61F-09A6-2BC9-DEA143B61AF9}"/>
              </a:ext>
            </a:extLst>
          </p:cNvPr>
          <p:cNvSpPr txBox="1"/>
          <p:nvPr/>
        </p:nvSpPr>
        <p:spPr>
          <a:xfrm>
            <a:off x="534259" y="4744623"/>
            <a:ext cx="1073816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US" sz="2000" dirty="0" err="1"/>
              <a:t>IntelliQ</a:t>
            </a:r>
            <a:r>
              <a:rPr lang="en-US" sz="2000" dirty="0"/>
              <a:t> combines virtual tokens, live updates, and ML recommendations to resolve all three core system shortcomings in one clean codebase.</a:t>
            </a:r>
            <a:endParaRPr lang="en-US" sz="2000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10083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2" grpId="0" animBg="1"/>
      <p:bldP spid="24" grpId="0"/>
      <p:bldP spid="26" grpId="0" animBg="1"/>
      <p:bldP spid="28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A4648DC-B1AA-18CD-C768-08243D36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C3677B22-D2DD-D11D-9A43-8F0E5B1116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Existing System vs Proposed System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6C53C7-530A-AF44-4EDC-B3D842368F61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1" dirty="0">
                          <a:latin typeface="Proxima Nova Rg" panose="02000506030000020004" pitchFamily="2" charset="0"/>
                        </a:rPr>
                        <a:t>Aspect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rPr b="1" dirty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1" dirty="0" err="1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IntelliQ</a:t>
                      </a:r>
                      <a:r>
                        <a:rPr b="1" dirty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 (Proposed)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 dirty="0">
                          <a:latin typeface="Proxima Nova Rg" panose="02000506030000020004" pitchFamily="2" charset="0"/>
                        </a:rPr>
                        <a:t>Scope / Domains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Single-domain apps (hospitals only OR banks only)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0" dirty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Unified multi-domain (Hospital, Bank, Govt, College, Resto)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Queue Updates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Manual slip numbers or slow SMS alerts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0" dirty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Live, real-time interactive queue tracking on UI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Smart Forecasting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Absent. No scheduling recommendations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0" dirty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AI-scored time slots displaying expected crowd density levels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Contactless Entry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Paper ticket slips / manual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Contactless check-in using unique QR-code tokens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Tenant Roles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Basic client only — no counter-level operations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4 distinct roles: User, Staff, Admin, and Super Admin dashboards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 dirty="0">
                          <a:latin typeface="Proxima Nova Rg" panose="02000506030000020004" pitchFamily="2" charset="0"/>
                        </a:rPr>
                        <a:t>Geolocation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b="0">
                          <a:latin typeface="Proxima Nova Rg" panose="02000506030000020004" pitchFamily="2" charset="0"/>
                        </a:rPr>
                        <a:t>Relies heavily on paid Google Maps APIs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rPr b="0" dirty="0">
                          <a:solidFill>
                            <a:schemeClr val="bg1"/>
                          </a:solidFill>
                          <a:latin typeface="Proxima Nova Rg" panose="02000506030000020004" pitchFamily="2" charset="0"/>
                        </a:rPr>
                        <a:t>Autonomous lookup using pre-loaded 1L+ location coordinates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708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2465B38C-73D5-C338-60FB-51B3B9EE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9957990D-D397-4B88-B065-D5828251D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0C772CBF-BFB7-2ACC-7B92-3E04A36CF201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User Panel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CFECFC-E23D-0F26-7EC9-3715BC7A2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22" y="1633972"/>
            <a:ext cx="2329990" cy="49683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2AECFF-C2A1-9014-679E-E30D6DB31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6463" y="1633972"/>
            <a:ext cx="2329991" cy="49683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58B263-4630-044F-8293-8921B6FA88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633972"/>
            <a:ext cx="2329990" cy="49683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0B89AB-AFCB-D961-ABBE-A49186626D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1219" y="1633972"/>
            <a:ext cx="2329992" cy="496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19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B346F2F-C234-7E67-42BA-1720C819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2566773D-5B19-C8CE-31EB-FF9B218E9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BD23313F-43D5-E13B-F4C5-5A66BF2C6AA6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User Panel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E198E7-033A-3178-D043-B0328B566F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9722" y="1657895"/>
            <a:ext cx="2329990" cy="49204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C502B8-D64F-DEEE-EEFE-CEFE59D81C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26463" y="1657893"/>
            <a:ext cx="2329991" cy="49204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361B6F-9481-18F2-F88F-4909F14EE0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6000" y="1657893"/>
            <a:ext cx="2329990" cy="49204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916220-5CED-C983-0DE7-EB6325FD59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31219" y="1657891"/>
            <a:ext cx="2329992" cy="49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9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B7493F2-99F7-49A5-96C7-B6CBE57C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A93FE13B-F529-FD96-5C69-B086672F8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23A8E9CF-936A-DF49-C2B1-5DCE8F3BF2DC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User Panel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B60CD9-2CF4-9326-F79E-72FAC8E46B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9722" y="1657895"/>
            <a:ext cx="2329989" cy="49204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F263275-C907-4377-8D43-C01A3E3215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26463" y="1657893"/>
            <a:ext cx="2329990" cy="492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2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77134246-0ECC-9A01-7715-6E574FC8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72673CF0-0DF6-6F23-A4B3-6D0D2A6DB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93EB1CBA-8159-84BD-358B-66DA7171AC5C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Staff</a:t>
            </a:r>
            <a:endParaRPr lang="en-US" sz="2000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4D1BF-FBD9-A984-8ACC-D7C236636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59" y="1741843"/>
            <a:ext cx="9970008" cy="466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263128B5-0FCA-61E8-6840-5815B849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FB85A195-6521-5F46-EC15-9ADE0CF9D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ADA24663-4468-642A-276B-A8BAE6128D48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Staff</a:t>
            </a:r>
            <a:endParaRPr lang="en-US" sz="2000" i="0" u="none" strike="noStrike" cap="none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AD7A-004B-0E41-2728-DB27B9A5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13" b="9318"/>
          <a:stretch>
            <a:fillRect/>
          </a:stretch>
        </p:blipFill>
        <p:spPr>
          <a:xfrm>
            <a:off x="534259" y="1633972"/>
            <a:ext cx="10116312" cy="45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5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864E567A-6548-03E4-3436-DDD53A39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0F19227C-34F3-4859-A812-EBE25D005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9BE2D0A8-BF00-CB6F-2A77-EF074163E703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Local Admin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4CC9CB-AB62-9F66-F0F9-3C70C3B3C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59" y="1633972"/>
            <a:ext cx="9457944" cy="475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02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3CDED77C-E3B3-7B3B-8DDA-844CCE72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174F83E0-DEE5-D4E8-676B-DD4198570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9EA075A6-AB30-2A7C-CF9E-97B4726980CB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Local 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AA9D5-6A69-ED8B-BD4D-304F2F56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59" y="1633972"/>
            <a:ext cx="10820400" cy="431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86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E83D03D7-045C-D33B-C37E-614A81AE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634A490F-9375-A4A0-63E6-32E5CC40C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67A02D5F-CA3A-B031-6112-9A43C37B8A8F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Super Admin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426EB-D240-FC02-8E42-FC72C1E6E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59" y="1633972"/>
            <a:ext cx="9423557" cy="491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4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A7725AA8-48E9-4295-C523-C6F9CFB4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8B5E8172-2DCE-2024-9E8D-4856B1C13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455866"/>
            <a:ext cx="556174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Screenshot</a:t>
            </a:r>
          </a:p>
        </p:txBody>
      </p:sp>
      <p:sp>
        <p:nvSpPr>
          <p:cNvPr id="4" name="Google Shape;106;p4">
            <a:extLst>
              <a:ext uri="{FF2B5EF4-FFF2-40B4-BE49-F238E27FC236}">
                <a16:creationId xmlns:a16="http://schemas.microsoft.com/office/drawing/2014/main" id="{091540AB-C75B-4705-D063-CFC7B153DA35}"/>
              </a:ext>
            </a:extLst>
          </p:cNvPr>
          <p:cNvSpPr txBox="1"/>
          <p:nvPr/>
        </p:nvSpPr>
        <p:spPr>
          <a:xfrm>
            <a:off x="534259" y="1141560"/>
            <a:ext cx="1073816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Super 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44E95-1FF4-4425-BA2F-80B315F16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56" y="1633972"/>
            <a:ext cx="5139752" cy="50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41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773FFD8C-675A-A59A-DB1A-3D43F9DA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7B46BCF0-0CA9-5BFA-217F-5E5B16DF9B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113" y="385972"/>
            <a:ext cx="361711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Future Enhancements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7B720554-30F6-B4C6-299F-DF67113A09D3}"/>
              </a:ext>
            </a:extLst>
          </p:cNvPr>
          <p:cNvSpPr/>
          <p:nvPr/>
        </p:nvSpPr>
        <p:spPr>
          <a:xfrm>
            <a:off x="6315393" y="1984792"/>
            <a:ext cx="5303520" cy="150921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Proxima Nova Rg" panose="0200050603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5854AE-2E76-2A0B-4C3C-3A634B41EADD}"/>
              </a:ext>
            </a:extLst>
          </p:cNvPr>
          <p:cNvSpPr txBox="1"/>
          <p:nvPr/>
        </p:nvSpPr>
        <p:spPr>
          <a:xfrm>
            <a:off x="6452553" y="2121952"/>
            <a:ext cx="5029200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lang="en-US" sz="1800" dirty="0">
                <a:latin typeface="Proxima Nova Rg" panose="02000506030000020004" pitchFamily="2" charset="0"/>
              </a:rPr>
              <a:t>Train ML Model</a:t>
            </a:r>
            <a:endParaRPr sz="1800" dirty="0">
              <a:latin typeface="Proxima Nova Rg" panose="02000506030000020004" pitchFamily="2" charset="0"/>
            </a:endParaRP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lang="en-US" dirty="0">
                <a:latin typeface="Proxima Nova Rg" panose="02000506030000020004" pitchFamily="2" charset="0"/>
              </a:rPr>
              <a:t>Develop and optimize machine learning models using real-world data to improve queue prediction performance.</a:t>
            </a:r>
            <a:endParaRPr dirty="0">
              <a:latin typeface="Proxima Nova Rg" panose="02000506030000020004" pitchFamily="2" charset="0"/>
            </a:endParaRP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C17EB855-F46F-818C-7C57-C235EFABE0C0}"/>
              </a:ext>
            </a:extLst>
          </p:cNvPr>
          <p:cNvSpPr/>
          <p:nvPr/>
        </p:nvSpPr>
        <p:spPr>
          <a:xfrm>
            <a:off x="573087" y="1984792"/>
            <a:ext cx="5394960" cy="150921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Proxima Nova Rg" panose="0200050603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6EBC77-44E0-3DD0-CF53-44C484759789}"/>
              </a:ext>
            </a:extLst>
          </p:cNvPr>
          <p:cNvSpPr txBox="1"/>
          <p:nvPr/>
        </p:nvSpPr>
        <p:spPr>
          <a:xfrm>
            <a:off x="710247" y="2121952"/>
            <a:ext cx="5120640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sz="1800" dirty="0">
                <a:latin typeface="Proxima Nova Rg" panose="02000506030000020004" pitchFamily="2" charset="0"/>
              </a:rPr>
              <a:t>Local Language Support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Translate the mobile and web screens to local Indian languages (Hindi, Telugu, etc.) so that all citizens can read and use the app easily.</a:t>
            </a: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2A343418-4F63-A238-40D0-841A5419EE83}"/>
              </a:ext>
            </a:extLst>
          </p:cNvPr>
          <p:cNvSpPr/>
          <p:nvPr/>
        </p:nvSpPr>
        <p:spPr>
          <a:xfrm>
            <a:off x="646113" y="3956064"/>
            <a:ext cx="5303520" cy="150921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Proxima Nova Rg" panose="0200050603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6DD700-3744-67FC-BE71-1C80CE99D5B3}"/>
              </a:ext>
            </a:extLst>
          </p:cNvPr>
          <p:cNvSpPr txBox="1"/>
          <p:nvPr/>
        </p:nvSpPr>
        <p:spPr>
          <a:xfrm>
            <a:off x="783273" y="4093224"/>
            <a:ext cx="5029200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sz="1800" dirty="0">
                <a:latin typeface="Proxima Nova Rg" panose="02000506030000020004" pitchFamily="2" charset="0"/>
              </a:rPr>
              <a:t>Smart Mobile Push Alerts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Integrate Firebase to alert users via sound alerts when their turn is 3 positions away. Saves users from constantly keeping the app screen open.</a:t>
            </a:r>
          </a:p>
        </p:txBody>
      </p:sp>
      <p:sp>
        <p:nvSpPr>
          <p:cNvPr id="39" name="Rounded Rectangle 9">
            <a:extLst>
              <a:ext uri="{FF2B5EF4-FFF2-40B4-BE49-F238E27FC236}">
                <a16:creationId xmlns:a16="http://schemas.microsoft.com/office/drawing/2014/main" id="{5DDB1ABC-0A4D-6914-435B-20FAAF37B39A}"/>
              </a:ext>
            </a:extLst>
          </p:cNvPr>
          <p:cNvSpPr/>
          <p:nvPr/>
        </p:nvSpPr>
        <p:spPr>
          <a:xfrm>
            <a:off x="6315393" y="3956064"/>
            <a:ext cx="5394960" cy="150921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Proxima Nova Rg" panose="0200050603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F5B52F-0FBB-EF14-B11F-FAD4635F099D}"/>
              </a:ext>
            </a:extLst>
          </p:cNvPr>
          <p:cNvSpPr txBox="1"/>
          <p:nvPr/>
        </p:nvSpPr>
        <p:spPr>
          <a:xfrm>
            <a:off x="6452553" y="4093224"/>
            <a:ext cx="5120640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lang="en-IN" sz="1800" dirty="0">
                <a:latin typeface="Proxima Nova Rg" panose="02000506030000020004" pitchFamily="2" charset="0"/>
              </a:rPr>
              <a:t>Cloud Deployment &amp; CI/CD</a:t>
            </a:r>
            <a:endParaRPr sz="1800" dirty="0">
              <a:latin typeface="Proxima Nova Rg" panose="02000506030000020004" pitchFamily="2" charset="0"/>
            </a:endParaRP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lang="en-US" dirty="0">
                <a:latin typeface="Proxima Nova Rg" panose="02000506030000020004" pitchFamily="2" charset="0"/>
              </a:rPr>
              <a:t>Deploy the application on Azure or AWS with a CI/CD pipeline for automated deployment, improved scalability, and reliable software updates.</a:t>
            </a:r>
            <a:endParaRPr dirty="0"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142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31" grpId="0" animBg="1"/>
      <p:bldP spid="33" grpId="0"/>
      <p:bldP spid="35" grpId="0" animBg="1"/>
      <p:bldP spid="37" grpId="0"/>
      <p:bldP spid="39" grpId="0" animBg="1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Conclusion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6113" y="1124744"/>
            <a:ext cx="10701591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US" sz="17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The system improves queue management using AI prediction, smart booking and scalable architecture.</a:t>
            </a:r>
          </a:p>
          <a:p>
            <a:pPr lvl="0">
              <a:buSzPts val="1700"/>
            </a:pPr>
            <a:endParaRPr lang="en-US" sz="1700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B5E10835-C9DA-2621-EDD0-3EC8703505B9}"/>
              </a:ext>
            </a:extLst>
          </p:cNvPr>
          <p:cNvSpPr/>
          <p:nvPr/>
        </p:nvSpPr>
        <p:spPr>
          <a:xfrm>
            <a:off x="6406833" y="2189216"/>
            <a:ext cx="5303520" cy="141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A06A0-546C-2DFA-825E-FC1D7B75F46C}"/>
              </a:ext>
            </a:extLst>
          </p:cNvPr>
          <p:cNvSpPr txBox="1"/>
          <p:nvPr/>
        </p:nvSpPr>
        <p:spPr>
          <a:xfrm>
            <a:off x="6543993" y="2326376"/>
            <a:ext cx="502920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Smart AI Prediction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Guiding users to pick empty hours significantly flattens peak crowds. Instead of rushing at 10 AM, users are spread throughout the day.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9FB8F2D-2CD2-6E56-DF7B-1FE1E2C85FF6}"/>
              </a:ext>
            </a:extLst>
          </p:cNvPr>
          <p:cNvSpPr/>
          <p:nvPr/>
        </p:nvSpPr>
        <p:spPr>
          <a:xfrm>
            <a:off x="646113" y="2189216"/>
            <a:ext cx="5394960" cy="141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7C200-95B4-D5F8-4212-12630714C9D5}"/>
              </a:ext>
            </a:extLst>
          </p:cNvPr>
          <p:cNvSpPr txBox="1"/>
          <p:nvPr/>
        </p:nvSpPr>
        <p:spPr>
          <a:xfrm>
            <a:off x="783273" y="2326376"/>
            <a:ext cx="5120640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Smart Booking &amp; QR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Replaces manual paperwork with quick QR tokens. Users join the line remotely and get real-time wait estimates on their screens.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79DE7E94-D3F0-457C-3B16-96E3DA9D7136}"/>
              </a:ext>
            </a:extLst>
          </p:cNvPr>
          <p:cNvSpPr/>
          <p:nvPr/>
        </p:nvSpPr>
        <p:spPr>
          <a:xfrm>
            <a:off x="646113" y="4118600"/>
            <a:ext cx="5303520" cy="132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E62A1-7987-5113-BA71-9A41A4732126}"/>
              </a:ext>
            </a:extLst>
          </p:cNvPr>
          <p:cNvSpPr txBox="1"/>
          <p:nvPr/>
        </p:nvSpPr>
        <p:spPr>
          <a:xfrm>
            <a:off x="783273" y="4255760"/>
            <a:ext cx="5029200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lang="en-IN" dirty="0">
                <a:latin typeface="Proxima Nova Rg" panose="02000506030000020004" pitchFamily="2" charset="0"/>
              </a:rPr>
              <a:t>S</a:t>
            </a:r>
            <a:r>
              <a:rPr dirty="0" err="1">
                <a:latin typeface="Proxima Nova Rg" panose="02000506030000020004" pitchFamily="2" charset="0"/>
              </a:rPr>
              <a:t>calable</a:t>
            </a:r>
            <a:r>
              <a:rPr dirty="0">
                <a:latin typeface="Proxima Nova Rg" panose="02000506030000020004" pitchFamily="2" charset="0"/>
              </a:rPr>
              <a:t> Multi-Tenant Setup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Designed using clean role-based dashboards (User, Staff, Admin). Handles multiple industries and locations with low server load.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2394CA4D-F694-6F63-76C0-494F99EE11E1}"/>
              </a:ext>
            </a:extLst>
          </p:cNvPr>
          <p:cNvSpPr/>
          <p:nvPr/>
        </p:nvSpPr>
        <p:spPr>
          <a:xfrm>
            <a:off x="6315393" y="4118600"/>
            <a:ext cx="5394960" cy="132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oxima Nova Rg" panose="0200050603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3C3DB-1642-1211-3E69-CF1549459391}"/>
              </a:ext>
            </a:extLst>
          </p:cNvPr>
          <p:cNvSpPr txBox="1"/>
          <p:nvPr/>
        </p:nvSpPr>
        <p:spPr>
          <a:xfrm>
            <a:off x="6452553" y="4255760"/>
            <a:ext cx="5120640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Budget-Friendly &amp; Ready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Proxima Nova Rg" panose="02000506030000020004" pitchFamily="2" charset="0"/>
              </a:rPr>
              <a:t>Pre-seeded database of 1L+ real locations removes map API costs, making it easily deployable for local Indian public services.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 animBg="1"/>
      <p:bldP spid="9" grpId="0"/>
      <p:bldP spid="11" grpId="0" animBg="1"/>
      <p:bldP spid="13" grpId="0"/>
      <p:bldP spid="15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B4C51CCA-5748-5D57-A8AE-908C4198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112392D3-3F74-DFB2-2D45-B4F0042D6D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474379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Project Development Progress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AF83655-C745-46AB-CD1F-E9FF56378DD4}"/>
              </a:ext>
            </a:extLst>
          </p:cNvPr>
          <p:cNvSpPr/>
          <p:nvPr/>
        </p:nvSpPr>
        <p:spPr>
          <a:xfrm>
            <a:off x="2013838" y="3138915"/>
            <a:ext cx="7567448" cy="290085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97C9C36-D5A5-B0DC-299D-8E475E751164}"/>
              </a:ext>
            </a:extLst>
          </p:cNvPr>
          <p:cNvSpPr/>
          <p:nvPr/>
        </p:nvSpPr>
        <p:spPr>
          <a:xfrm>
            <a:off x="2013838" y="3138915"/>
            <a:ext cx="6075554" cy="290085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D85DED-0602-2853-F564-0E03779AF580}"/>
              </a:ext>
            </a:extLst>
          </p:cNvPr>
          <p:cNvCxnSpPr/>
          <p:nvPr/>
        </p:nvCxnSpPr>
        <p:spPr>
          <a:xfrm>
            <a:off x="8059837" y="2661257"/>
            <a:ext cx="0" cy="5360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7D4DD7E-A94D-FEC8-7895-516DAD6B9163}"/>
              </a:ext>
            </a:extLst>
          </p:cNvPr>
          <p:cNvSpPr/>
          <p:nvPr/>
        </p:nvSpPr>
        <p:spPr>
          <a:xfrm>
            <a:off x="7287404" y="2350464"/>
            <a:ext cx="1512536" cy="290085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Proxima Nova Rg" panose="02000506030000020004" pitchFamily="2" charset="0"/>
              </a:rPr>
              <a:t>COMPLETED</a:t>
            </a:r>
            <a:endParaRPr lang="en-IN" sz="1400" b="1" dirty="0">
              <a:latin typeface="Proxima Nova Rg" panose="0200050603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33AF68-7E5F-0EFA-03B4-EA542E54AC09}"/>
              </a:ext>
            </a:extLst>
          </p:cNvPr>
          <p:cNvSpPr txBox="1"/>
          <p:nvPr/>
        </p:nvSpPr>
        <p:spPr>
          <a:xfrm>
            <a:off x="7597228" y="1923494"/>
            <a:ext cx="821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roxima Nova Rg" panose="02000506030000020004" pitchFamily="2" charset="0"/>
              </a:rPr>
              <a:t>70%</a:t>
            </a:r>
            <a:endParaRPr lang="en-IN" sz="2000" b="1" dirty="0">
              <a:latin typeface="Proxima Nova Rg" panose="02000506030000020004" pitchFamily="2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C7E80B6-FBD5-04B3-06F0-222E38B2A89C}"/>
              </a:ext>
            </a:extLst>
          </p:cNvPr>
          <p:cNvSpPr/>
          <p:nvPr/>
        </p:nvSpPr>
        <p:spPr>
          <a:xfrm>
            <a:off x="1919955" y="3049074"/>
            <a:ext cx="469765" cy="469765"/>
          </a:xfrm>
          <a:prstGeom prst="ellipse">
            <a:avLst/>
          </a:prstGeom>
          <a:solidFill>
            <a:srgbClr val="1E293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roxima Nova Rg" panose="02000506030000020004" pitchFamily="2" charset="0"/>
              </a:rPr>
              <a:t>1</a:t>
            </a:r>
            <a:endParaRPr lang="en-IN" sz="1600" b="1" dirty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88004C-A014-92A4-8C70-E9B6CEAD01EE}"/>
              </a:ext>
            </a:extLst>
          </p:cNvPr>
          <p:cNvSpPr txBox="1"/>
          <p:nvPr/>
        </p:nvSpPr>
        <p:spPr>
          <a:xfrm>
            <a:off x="1780139" y="3429000"/>
            <a:ext cx="749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roxima Nova Rg" panose="02000506030000020004" pitchFamily="2" charset="0"/>
              </a:rPr>
              <a:t>Stage 1</a:t>
            </a:r>
            <a:endParaRPr lang="en-IN" sz="1200" b="1" dirty="0">
              <a:latin typeface="Proxima Nova Rg" panose="02000506030000020004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D614E1-E28A-8D8E-B532-B9087CFA2B44}"/>
              </a:ext>
            </a:extLst>
          </p:cNvPr>
          <p:cNvSpPr txBox="1"/>
          <p:nvPr/>
        </p:nvSpPr>
        <p:spPr>
          <a:xfrm>
            <a:off x="1541821" y="3716529"/>
            <a:ext cx="2019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Literature Review &amp; Problem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Technology Selection (Flutter, ASP.NET, Python)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Dataset Collection &amp; Research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System Requirement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GitHub Repository Setup</a:t>
            </a:r>
            <a:endParaRPr lang="en-IN" sz="1200" dirty="0">
              <a:latin typeface="Proxima Nova Rg" panose="02000506030000020004" pitchFamily="2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A031247-A58E-A6D4-9227-5773F70FFEB4}"/>
              </a:ext>
            </a:extLst>
          </p:cNvPr>
          <p:cNvSpPr/>
          <p:nvPr/>
        </p:nvSpPr>
        <p:spPr>
          <a:xfrm>
            <a:off x="4533430" y="3049073"/>
            <a:ext cx="469765" cy="469765"/>
          </a:xfrm>
          <a:prstGeom prst="ellipse">
            <a:avLst/>
          </a:prstGeom>
          <a:solidFill>
            <a:srgbClr val="1E293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roxima Nova Rg" panose="02000506030000020004" pitchFamily="2" charset="0"/>
              </a:rPr>
              <a:t>2</a:t>
            </a:r>
            <a:endParaRPr lang="en-IN" sz="1600" b="1" dirty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2873DC-0E4E-75A6-FAEE-473142B005E1}"/>
              </a:ext>
            </a:extLst>
          </p:cNvPr>
          <p:cNvSpPr txBox="1"/>
          <p:nvPr/>
        </p:nvSpPr>
        <p:spPr>
          <a:xfrm>
            <a:off x="4398224" y="3434265"/>
            <a:ext cx="749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roxima Nova Rg" panose="02000506030000020004" pitchFamily="2" charset="0"/>
              </a:rPr>
              <a:t>Stage 2</a:t>
            </a:r>
            <a:endParaRPr lang="en-IN" sz="1200" b="1" dirty="0">
              <a:latin typeface="Proxima Nova Rg" panose="02000506030000020004" pitchFamily="2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2E683E9-30AD-2230-ECE3-E9A21F4FA39C}"/>
              </a:ext>
            </a:extLst>
          </p:cNvPr>
          <p:cNvSpPr/>
          <p:nvPr/>
        </p:nvSpPr>
        <p:spPr>
          <a:xfrm>
            <a:off x="6594073" y="3050378"/>
            <a:ext cx="469765" cy="469765"/>
          </a:xfrm>
          <a:prstGeom prst="ellipse">
            <a:avLst/>
          </a:prstGeom>
          <a:solidFill>
            <a:srgbClr val="1E293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roxima Nova Rg" panose="02000506030000020004" pitchFamily="2" charset="0"/>
              </a:rPr>
              <a:t>3</a:t>
            </a:r>
            <a:endParaRPr lang="en-IN" sz="1600" b="1" dirty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E5BFE3-F78E-2361-A214-72C9C2B8FB58}"/>
              </a:ext>
            </a:extLst>
          </p:cNvPr>
          <p:cNvSpPr txBox="1"/>
          <p:nvPr/>
        </p:nvSpPr>
        <p:spPr>
          <a:xfrm>
            <a:off x="6454878" y="3434265"/>
            <a:ext cx="749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roxima Nova Rg" panose="02000506030000020004" pitchFamily="2" charset="0"/>
              </a:rPr>
              <a:t>Stage 3</a:t>
            </a:r>
            <a:endParaRPr lang="en-IN" sz="1200" b="1" dirty="0">
              <a:latin typeface="Proxima Nova Rg" panose="02000506030000020004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2BC275F-906C-FBD5-2A31-5E90A0F33875}"/>
              </a:ext>
            </a:extLst>
          </p:cNvPr>
          <p:cNvSpPr/>
          <p:nvPr/>
        </p:nvSpPr>
        <p:spPr>
          <a:xfrm>
            <a:off x="9150056" y="3050378"/>
            <a:ext cx="469765" cy="469765"/>
          </a:xfrm>
          <a:prstGeom prst="ellipse">
            <a:avLst/>
          </a:prstGeom>
          <a:solidFill>
            <a:srgbClr val="51D8C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Proxima Nova Rg" panose="02000506030000020004" pitchFamily="2" charset="0"/>
              </a:rPr>
              <a:t>4</a:t>
            </a:r>
            <a:endParaRPr lang="en-IN" sz="1600" b="1" dirty="0">
              <a:solidFill>
                <a:schemeClr val="tx1"/>
              </a:solidFill>
              <a:latin typeface="Proxima Nova Rg" panose="02000506030000020004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C65590-5783-59AD-45FA-E6F7E14E5556}"/>
              </a:ext>
            </a:extLst>
          </p:cNvPr>
          <p:cNvSpPr txBox="1"/>
          <p:nvPr/>
        </p:nvSpPr>
        <p:spPr>
          <a:xfrm>
            <a:off x="9041612" y="3434265"/>
            <a:ext cx="749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roxima Nova Rg" panose="02000506030000020004" pitchFamily="2" charset="0"/>
              </a:rPr>
              <a:t>Stage 4</a:t>
            </a:r>
            <a:endParaRPr lang="en-IN" sz="1200" b="1" dirty="0">
              <a:latin typeface="Proxima Nova Rg" panose="02000506030000020004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BFD033-7B3F-5377-C7C2-A3D6ED892175}"/>
              </a:ext>
            </a:extLst>
          </p:cNvPr>
          <p:cNvSpPr txBox="1"/>
          <p:nvPr/>
        </p:nvSpPr>
        <p:spPr>
          <a:xfrm>
            <a:off x="3968221" y="3697197"/>
            <a:ext cx="1740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Flutter UI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Login &amp; Registration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Queue Booking Interface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Reservation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User Dashboard</a:t>
            </a:r>
            <a:endParaRPr lang="en-IN" sz="1200" dirty="0">
              <a:latin typeface="Proxima Nova Rg" panose="02000506030000020004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8F4591-A625-6A8E-E2AF-6C57E9F2AE51}"/>
              </a:ext>
            </a:extLst>
          </p:cNvPr>
          <p:cNvSpPr txBox="1"/>
          <p:nvPr/>
        </p:nvSpPr>
        <p:spPr>
          <a:xfrm>
            <a:off x="6091973" y="3697197"/>
            <a:ext cx="18486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ASP.NET Core REST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SQL Server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Authentication &amp; Authorization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API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Database Management</a:t>
            </a:r>
            <a:endParaRPr lang="en-IN" sz="1200" dirty="0">
              <a:latin typeface="Proxima Nova Rg" panose="0200050603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F0078B-E326-DA73-B75F-E24CBF2462C3}"/>
              </a:ext>
            </a:extLst>
          </p:cNvPr>
          <p:cNvSpPr txBox="1"/>
          <p:nvPr/>
        </p:nvSpPr>
        <p:spPr>
          <a:xfrm>
            <a:off x="8571657" y="3697197"/>
            <a:ext cx="2019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Dataset Preprocessing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Feature Engineering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Model Training Model Evaluation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Python Prediction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End-to-End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 Rg" panose="02000506030000020004" pitchFamily="2" charset="0"/>
              </a:rPr>
              <a:t>Performance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16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57" grpId="0"/>
      <p:bldP spid="58" grpId="0" animBg="1"/>
      <p:bldP spid="59" grpId="0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/>
      <p:bldP spid="68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BB6897E6-8B18-AB79-AB66-CF71A19B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E7416D34-A33A-916A-58FE-2F0FA1718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259" y="309562"/>
            <a:ext cx="232090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US" sz="2400" b="1" dirty="0">
                <a:solidFill>
                  <a:srgbClr val="04A2B9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References</a:t>
            </a:r>
            <a:endParaRPr sz="2400" b="1" dirty="0"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106" name="Google Shape;106;p4">
            <a:extLst>
              <a:ext uri="{FF2B5EF4-FFF2-40B4-BE49-F238E27FC236}">
                <a16:creationId xmlns:a16="http://schemas.microsoft.com/office/drawing/2014/main" id="{D786E649-314F-38B1-457A-52DAA8F75E4B}"/>
              </a:ext>
            </a:extLst>
          </p:cNvPr>
          <p:cNvSpPr txBox="1"/>
          <p:nvPr/>
        </p:nvSpPr>
        <p:spPr>
          <a:xfrm>
            <a:off x="646113" y="1124744"/>
            <a:ext cx="10701591" cy="280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Flutter Docs: 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ea typeface="Proxima Nova" panose="02000506030000020004"/>
                <a:cs typeface="Proxima Nova" panose="02000506030000020004"/>
                <a:sym typeface="Proxima Nova" panose="02000506030000020004"/>
                <a:hlinkClick r:id="rId4"/>
              </a:rPr>
              <a:t>https://docs.flutter.dev/</a:t>
            </a: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>
              <a:buSzPts val="1700"/>
            </a:pP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>
              <a:buSzPts val="1700"/>
            </a:pP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</a:rPr>
              <a:t>ASP.NET Core Docs: </a:t>
            </a:r>
            <a:r>
              <a:rPr lang="en-IN" sz="1700" dirty="0">
                <a:solidFill>
                  <a:srgbClr val="0563C1"/>
                </a:solidFill>
                <a:latin typeface="Proxima Nova Rg" panose="0200050603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https://dotnet.microsoft.com/en-us/apps/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aspnet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</a:rPr>
              <a:t> and </a:t>
            </a:r>
          </a:p>
          <a:p>
            <a:pPr>
              <a:buSzPts val="1700"/>
            </a:pPr>
            <a:r>
              <a:rPr lang="en-IN" sz="1700" dirty="0">
                <a:solidFill>
                  <a:srgbClr val="0563C1"/>
                </a:solidFill>
                <a:latin typeface="Proxima Nova Rg" panose="0200050603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https://learn.microsoft.com/en-us/aspnet/core/?view=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aspnetcore-10.0</a:t>
            </a: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 lvl="0">
              <a:buSzPts val="1700"/>
            </a:pP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 lvl="0">
              <a:buSzPts val="1700"/>
            </a:pP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</a:rPr>
              <a:t>Scikit-learn: </a:t>
            </a:r>
            <a:r>
              <a:rPr lang="en-IN" sz="1700" dirty="0">
                <a:solidFill>
                  <a:srgbClr val="0563C1"/>
                </a:solidFill>
                <a:latin typeface="Proxima Nova Rg" panose="02000506030000020004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 lvl="0">
              <a:buSzPts val="1700"/>
            </a:pP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>
              <a:buSzPts val="1700"/>
            </a:pP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</a:rPr>
              <a:t>Python Docs: </a:t>
            </a:r>
            <a:r>
              <a:rPr lang="en-IN" sz="1700" dirty="0">
                <a:solidFill>
                  <a:srgbClr val="0563C1"/>
                </a:solidFill>
                <a:latin typeface="Proxima Nova Rg" panose="02000506030000020004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>
              <a:buSzPts val="1700"/>
            </a:pP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  <a:p>
            <a:pPr>
              <a:buSzPts val="1700"/>
            </a:pP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</a:rPr>
              <a:t>Kaggle: </a:t>
            </a:r>
            <a:r>
              <a:rPr lang="en-IN" sz="1700" dirty="0">
                <a:solidFill>
                  <a:srgbClr val="0563C1"/>
                </a:solidFill>
                <a:latin typeface="Proxima Nova Rg" panose="02000506030000020004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</a:t>
            </a:r>
            <a:r>
              <a:rPr lang="en-IN" sz="1700" dirty="0">
                <a:solidFill>
                  <a:schemeClr val="tx1"/>
                </a:solidFill>
                <a:latin typeface="Proxima Nova Rg" panose="02000506030000020004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IN" sz="1700" dirty="0">
              <a:solidFill>
                <a:schemeClr val="tx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771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4595812" y="2967350"/>
            <a:ext cx="300037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</a:pPr>
            <a:r>
              <a:rPr lang="en-IN" sz="4800" b="1" dirty="0">
                <a:solidFill>
                  <a:schemeClr val="tx1"/>
                </a:solidFill>
              </a:rPr>
              <a:t>Q&amp;A</a:t>
            </a:r>
            <a:endParaRPr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1372</Words>
  <Application>Microsoft Office PowerPoint</Application>
  <PresentationFormat>Widescreen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Proxima Nova</vt:lpstr>
      <vt:lpstr>Proxima Nova Rg</vt:lpstr>
      <vt:lpstr>Arial</vt:lpstr>
      <vt:lpstr>Office Theme</vt:lpstr>
      <vt:lpstr>PowerPoint Presentation</vt:lpstr>
      <vt:lpstr>PowerPoint Presentation</vt:lpstr>
      <vt:lpstr>Outline</vt:lpstr>
      <vt:lpstr>Introduction</vt:lpstr>
      <vt:lpstr>Abstract</vt:lpstr>
      <vt:lpstr>Problem Statement </vt:lpstr>
      <vt:lpstr>Objectives </vt:lpstr>
      <vt:lpstr>Current Existing Problems &amp; Solutions</vt:lpstr>
      <vt:lpstr>Existing System vs Proposed System</vt:lpstr>
      <vt:lpstr>Screenshot</vt:lpstr>
      <vt:lpstr>Screenshot</vt:lpstr>
      <vt:lpstr>Screenshot</vt:lpstr>
      <vt:lpstr>Screenshot</vt:lpstr>
      <vt:lpstr>Screenshot</vt:lpstr>
      <vt:lpstr>Screenshot</vt:lpstr>
      <vt:lpstr>Screenshot</vt:lpstr>
      <vt:lpstr>Screenshot</vt:lpstr>
      <vt:lpstr>Screenshot</vt:lpstr>
      <vt:lpstr>Future Enhancements</vt:lpstr>
      <vt:lpstr>Conclusion</vt:lpstr>
      <vt:lpstr>Project Development Progress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smit rudkiya</cp:lastModifiedBy>
  <cp:revision>25</cp:revision>
  <dcterms:created xsi:type="dcterms:W3CDTF">2023-12-05T07:58:00Z</dcterms:created>
  <dcterms:modified xsi:type="dcterms:W3CDTF">2026-07-11T04:33:22Z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64191B4E558B4A0A9654A2ABC4C501E4_12</vt:lpwstr>
  </property>
  <property fmtid="{D5CDD505-2E9C-101B-9397-08002B2CF9AE}" pid="10" name="KSOProductBuildVer">
    <vt:lpwstr>1033-12.1.0.26372</vt:lpwstr>
  </property>
</Properties>
</file>